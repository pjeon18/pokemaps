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DESIGN CASE STUDY · 2026</a:t>
            </a:r>
            <a:endParaRPr lang="en-US" sz="1100" dirty="0"/>
          </a:p>
        </p:txBody>
      </p:sp>
      <p:pic>
        <p:nvPicPr>
          <p:cNvPr id="3" name="Image 0" descr="/Users/pauljeon/Downloads/assets/wheremon/slides/shots/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43000"/>
            <a:ext cx="4416552" cy="8622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233172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daily location-guessing puzzle played on the Pokémon games' own town maps — six escalating hints, direction-only feedback, one answer a day across five regions.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85800" y="3310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Jeon — product · design · engineering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85800" y="4160520"/>
            <a:ext cx="166420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431596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49560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32888" y="4160520"/>
            <a:ext cx="166420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32888" y="431596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7FB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373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532888" y="49560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79976" y="4160520"/>
            <a:ext cx="166420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379976" y="431596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379976" y="49560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 TIERS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27064" y="4160520"/>
            <a:ext cx="166420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27064" y="431596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227064" y="495604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PUZZLE A DAY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580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pjeon18.github.io/pokemaps  ·  github.com/pjeon18/pokemaps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732520" y="438912"/>
            <a:ext cx="2825149" cy="5943600"/>
          </a:xfrm>
          <a:prstGeom prst="roundRect">
            <a:avLst>
              <a:gd name="adj" fmla="val 3884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20" name="Image 1" descr="/Users/pauljeon/Downloads/assets/wheremon/slides/shots/mobile-play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672" y="512064"/>
            <a:ext cx="2678845" cy="5797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035040" cy="596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Wordle × GeoGuessr — </a:t>
            </a:r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D7FB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on the games' own town maps.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day, one hidden location somewhere in the Pokémon world. You don't type a word — you tap the actual pixel town map. Wrong guesses answer back, and the hint ladder drops another rung.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3520440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3685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FB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81328" y="36393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71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 THE MAP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81328" y="39044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guess is a place, not a word — every location is a click region on the real in-game map.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4553712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4718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FB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81328" y="46725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71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 + HEAT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81328" y="49377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is an 8-way arrow and a warmth band. Never a number.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5586984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5751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FB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81328" y="57058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71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LADDER DROPS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81328" y="59710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miss unlocks a broader hint, from habitat classification down to a photograph.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1234440"/>
            <a:ext cx="5266944" cy="4442827"/>
          </a:xfrm>
          <a:prstGeom prst="roundRect">
            <a:avLst>
              <a:gd name="adj" fmla="val 2470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18" name="Image 0" descr="/Users/pauljeon/Downloads/assets/wheremon/slides/shots/map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1307592"/>
            <a:ext cx="5120640" cy="429652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537960" y="5805283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HOENN SURVEY SHEET — LIVE BUILD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DESIGN LANGUAGE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5943600" cy="63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Field guide, turned up.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plays a naturalist's survey kit: white pages, ink outlines, huge rounded type with the DS-menu energy of the games themselves. The chrome never competes with the pixel maps — it frames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0" y="685800"/>
            <a:ext cx="4352544" cy="2983424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6" name="Image 0" descr="/Users/pauljeon/Downloads/assets/wheremon/slides/shots/guess-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2" y="758952"/>
            <a:ext cx="4206240" cy="2837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0" y="37972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 + HEAT, NEVER DISTANCE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" y="41605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4434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INK ON WHITE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48006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Panels are white with 2.5px ink outlines and hard un-blurred drop shadows — menu boxes you could pick up.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41605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17720" y="4434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COLOR ONLY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17720" y="48006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appears only as information: proximity bands and one interactive blue. The pixel maps carry all the rest.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2440" y="41605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21040" y="4434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7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LOUD TYPE, QUIET LABELS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321040" y="48006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PLUS Rounded 1c at display sizes does the talking; IBM Plex Mono survey labels whisper in the margins.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TYPE &amp; COLOR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8229600" cy="55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One face for everything. Color as data.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7086600" cy="2216476"/>
          </a:xfrm>
          <a:prstGeom prst="roundRect">
            <a:avLst>
              <a:gd name="adj" fmla="val 4951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5" name="Image 0" descr="/Users/pauljeon/Downloads/assets/wheremon/slides/shots/type-speci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6903720" cy="20335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1783080"/>
            <a:ext cx="3429000" cy="2216476"/>
          </a:xfrm>
          <a:prstGeom prst="roundRect">
            <a:avLst>
              <a:gd name="adj" fmla="val 4951"/>
            </a:avLst>
          </a:prstGeom>
          <a:solidFill>
            <a:srgbClr val="F4F2EC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2104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71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FACE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321040" y="239572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PLUS Rounded 1c is the free relative of FOT-NewRodin — the rounded face the games themselves use. IBM Plex Mono plays the instrument-panel labels.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4343400"/>
            <a:ext cx="1664208" cy="169164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0392" y="4526280"/>
            <a:ext cx="1335024" cy="685800"/>
          </a:xfrm>
          <a:prstGeom prst="roundRect">
            <a:avLst>
              <a:gd name="adj" fmla="val 12000"/>
            </a:avLst>
          </a:prstGeom>
          <a:solidFill>
            <a:srgbClr val="17130C"/>
          </a:solidFill>
          <a:ln w="19050">
            <a:solidFill>
              <a:srgbClr val="1713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532180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71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4088" y="555955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#17130C · chrome &amp; type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532888" y="4343400"/>
            <a:ext cx="1664208" cy="169164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97480" y="4526280"/>
            <a:ext cx="1335024" cy="685800"/>
          </a:xfrm>
          <a:prstGeom prst="roundRect">
            <a:avLst>
              <a:gd name="adj" fmla="val 12000"/>
            </a:avLst>
          </a:prstGeom>
          <a:solidFill>
            <a:srgbClr val="0D7FBF"/>
          </a:solidFill>
          <a:ln w="19050">
            <a:solidFill>
              <a:srgbClr val="1713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78608" y="532180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71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INTERACTIVE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551176" y="555955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#0D7FBF · the one blue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379976" y="4343400"/>
            <a:ext cx="1664208" cy="169164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44568" y="4526280"/>
            <a:ext cx="1335024" cy="685800"/>
          </a:xfrm>
          <a:prstGeom prst="roundRect">
            <a:avLst>
              <a:gd name="adj" fmla="val 12000"/>
            </a:avLst>
          </a:prstGeom>
          <a:solidFill>
            <a:srgbClr val="1CA35E"/>
          </a:solidFill>
          <a:ln w="19050">
            <a:solidFill>
              <a:srgbClr val="1713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25696" y="532180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71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398264" y="555955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#1CA35E · found it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227064" y="4343400"/>
            <a:ext cx="1664208" cy="169164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91656" y="4526280"/>
            <a:ext cx="1335024" cy="685800"/>
          </a:xfrm>
          <a:prstGeom prst="roundRect">
            <a:avLst>
              <a:gd name="adj" fmla="val 12000"/>
            </a:avLst>
          </a:prstGeom>
          <a:solidFill>
            <a:srgbClr val="E0A800"/>
          </a:solidFill>
          <a:ln w="19050">
            <a:solidFill>
              <a:srgbClr val="17130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72784" y="532180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71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45352" y="555955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#E0A800 · getting close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074152" y="4343400"/>
            <a:ext cx="1664208" cy="169164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38744" y="4526280"/>
            <a:ext cx="1335024" cy="685800"/>
          </a:xfrm>
          <a:prstGeom prst="roundRect">
            <a:avLst>
              <a:gd name="adj" fmla="val 12000"/>
            </a:avLst>
          </a:prstGeom>
          <a:solidFill>
            <a:srgbClr val="E2711D"/>
          </a:solidFill>
          <a:ln w="19050">
            <a:solidFill>
              <a:srgbClr val="17130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19872" y="532180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71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092440" y="555955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#E2711D · in the region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921240" y="4343400"/>
            <a:ext cx="1664208" cy="169164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0085832" y="4526280"/>
            <a:ext cx="1335024" cy="685800"/>
          </a:xfrm>
          <a:prstGeom prst="roundRect">
            <a:avLst>
              <a:gd name="adj" fmla="val 12000"/>
            </a:avLst>
          </a:prstGeom>
          <a:solidFill>
            <a:srgbClr val="D94A4A"/>
          </a:solidFill>
          <a:ln w="19050">
            <a:solidFill>
              <a:srgbClr val="17130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966960" y="532180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71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939528" y="555955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#D94A4A · far away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8580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colors are the game's information — the warmth of a guess. Nothing else in the chrome is allowed to have color.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THE HINT LADDER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6949440" cy="53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Six hints, hardest first — priced in Poké Balls.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Rarer ball, bigger giveaway. The opener asks you to reason from habitat; the Master Ball simply shows you the place.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6400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6" name="Image 0" descr="/Users/pauljeon/Downloads/assets/wheremon/public/content/balls/poke-b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6426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6609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83080" y="2651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CLASSIFICATION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160520" y="26700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and habitat chips only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5800" y="3172968"/>
            <a:ext cx="6400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11" name="Image 1" descr="/Users/pauljeon/Downloads/assets/wheremon/public/content/balls/great-b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30098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3192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78308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FIELD AUDIO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160520" y="332841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wild cry recorded in the area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85800" y="3831336"/>
            <a:ext cx="6400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16" name="Image 2" descr="/Users/pauljeon/Downloads/assets/wheremon/public/content/balls/ultra-b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95935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977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783080" y="3968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OVERHEARD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160520" y="398678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NPC line — in-game class and name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85800" y="4489704"/>
            <a:ext cx="6400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21" name="Image 3" descr="/Users/pauljeon/Downloads/assets/wheremon/public/content/balls/quick-ba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61772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636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783080" y="4626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WILD SPRITES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160520" y="46451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encounters, in that generation's own pixels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85800" y="5148072"/>
            <a:ext cx="6400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26" name="Image 4" descr="/Users/pauljeon/Downloads/assets/wheremon/public/content/balls/dusk-ba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276088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52943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783080" y="5285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TOWN-MAP NOTE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160520" y="5303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games' own map description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85800" y="5806440"/>
            <a:ext cx="6400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31" name="Image 5" descr="/Users/pauljeon/Downloads/assets/wheremon/public/content/balls/master-ba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593445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25880" y="59527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783080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PHOTOGRAPH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4160520" y="59618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in-game screenshot, unblurred at the end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7818120" y="457200"/>
            <a:ext cx="3636110" cy="5907024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36" name="Image 6" descr="/Users/pauljeon/Downloads/assets/wheremon/slides/shots/hint-pane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1272" y="530352"/>
            <a:ext cx="348980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GUESS FEEDBACK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7552538" cy="504748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4" name="Image 0" descr="/Users/pauljeon/Downloads/assets/wheremon/slides/shots/desktop-play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44752"/>
            <a:ext cx="7406234" cy="4901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49640" y="1371600"/>
            <a:ext cx="3108960" cy="516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Never a number.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549640" y="21031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wrong guess answers with an 8-way arrow and a warmth band — enough to navigate by, never enough to triangulate with. Distance is computed internally in map tiles and stays there.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549640" y="397764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CA35E"/>
          </a:solidFill>
          <a:ln w="19050">
            <a:solidFill>
              <a:srgbClr val="17130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40325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64040" y="4041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it — the star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549640" y="4544568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E0A800"/>
          </a:solidFill>
          <a:ln w="19050">
            <a:solidFill>
              <a:srgbClr val="1713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49640" y="45994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464040" y="4608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tiles out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49640" y="5111496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E2711D"/>
          </a:solidFill>
          <a:ln w="19050">
            <a:solidFill>
              <a:srgbClr val="17130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51663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9464040" y="5175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corner of the map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549640" y="5678424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D94A4A"/>
          </a:solidFill>
          <a:ln w="19050">
            <a:solidFill>
              <a:srgbClr val="17130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49640" y="57332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9464040" y="5742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side of the region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CONTENT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8229600" cy="596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373 locations, zero runtime calls.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pulled, scraped, extracted, and verified at build time — then shipped as one static bundle. The live game never talks to a third party.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926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FB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273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71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POKÉAPI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encounter tables and cries, filtered per pack to era-correct game versions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274320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2926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FB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108960" y="3273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71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BULBAPEDIA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361188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rosters, the games' own map descriptions, in-game screenshots — never anime 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66360" y="274320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49240" y="2926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FB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349240" y="3273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71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9240" y="361188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regions read from the games' highlight maps — three computer-vision methods across five generations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274320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2926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FB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89520" y="3273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71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 GATE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89520" y="361188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fails if any location can't fill its hint ladder — no half-authored puzzles ship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46920" y="274320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4F2EC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29800" y="2926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FB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829800" y="3273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71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BUNDLE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29800" y="3611880"/>
            <a:ext cx="1719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backend, no accounts; state lives in localStorage on your device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525780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1508760" y="54132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methods — ring detection, dot colors, palette-cluster diff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34840" y="525780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5257800" y="54132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sprite eras — a Sandshrew in Hoenn looks like 2003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83880" y="525780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9006840" y="54132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calls at runtime — everything bundled, attributed, takedown-ready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REGION PACKS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8229600" cy="55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Five regions, one daily schedule.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58444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5" name="Image 0" descr="/Users/pauljeon/Downloads/assets/wheremon/public/content/map/sinno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5742" y="1892808"/>
            <a:ext cx="1904565" cy="1481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447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Sinnoh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14400" y="37033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 LOCATIONS · D/P/PT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453128" y="1691640"/>
            <a:ext cx="358444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9" name="Image 1" descr="/Users/pauljeon/Downloads/assets/wheremon/public/content/map/johto-kan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892808"/>
            <a:ext cx="3017520" cy="12086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81728" y="3447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Johto &amp; Kanto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681728" y="37033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LOCATIONS · HGSS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8220456" y="1691640"/>
            <a:ext cx="358444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13" name="Image 2" descr="/Users/pauljeon/Downloads/assets/wheremon/public/content/map/hoen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5506" y="1892808"/>
            <a:ext cx="2394348" cy="1481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49056" y="3447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Hoenn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449056" y="37033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 LOCATIONS · R/S/E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2569464" y="4160520"/>
            <a:ext cx="358444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17" name="Image 3" descr="/Users/pauljeon/Downloads/assets/wheremon/public/content/map/unov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057" y="4361688"/>
            <a:ext cx="2257262" cy="14813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798064" y="5916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Unova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2798064" y="6172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LOCATIONS · BW + B2W2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6336792" y="4160520"/>
            <a:ext cx="3584448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21" name="Image 4" descr="/Users/pauljeon/Downloads/assets/wheremon/public/content/map/kalo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385" y="4361688"/>
            <a:ext cx="2257262" cy="14813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65392" y="5916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Kalos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565392" y="6172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LOCATIONS · XY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685800" y="6510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pack ships its own era's sprites, cries, and screenshots — the region looks and sounds like its generation.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RETENTION WITHOUT PRESSURE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5669280" cy="556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Streaks as a gym gauntlet.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daily streak climbs Sinnoh's gym-leader ladder — Roark travels with you at streak 1, Cynthia waits at the summit. Practice mode keeps its own run, per region or across every pack, and ends with a shareable result instead of a scold.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36118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4F2EC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6" name="Image 0" descr="/Users/pauljeon/Downloads/assets/wheremon/public/content/leaders/ro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77640"/>
            <a:ext cx="475488" cy="713232"/>
          </a:xfrm>
          <a:prstGeom prst="rect">
            <a:avLst/>
          </a:prstGeom>
        </p:spPr>
      </p:pic>
      <p:pic>
        <p:nvPicPr>
          <p:cNvPr id="7" name="Image 1" descr="/Users/pauljeon/Downloads/assets/wheremon/public/content/leaders/garden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3977640"/>
            <a:ext cx="475488" cy="713232"/>
          </a:xfrm>
          <a:prstGeom prst="rect">
            <a:avLst/>
          </a:prstGeom>
        </p:spPr>
      </p:pic>
      <p:pic>
        <p:nvPicPr>
          <p:cNvPr id="8" name="Image 2" descr="/Users/pauljeon/Downloads/assets/wheremon/public/content/leaders/mayle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3977640"/>
            <a:ext cx="475488" cy="713232"/>
          </a:xfrm>
          <a:prstGeom prst="rect">
            <a:avLst/>
          </a:prstGeom>
        </p:spPr>
      </p:pic>
      <p:pic>
        <p:nvPicPr>
          <p:cNvPr id="9" name="Image 3" descr="/Users/pauljeon/Downloads/assets/wheremon/public/content/leaders/w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977640"/>
            <a:ext cx="475488" cy="713232"/>
          </a:xfrm>
          <a:prstGeom prst="rect">
            <a:avLst/>
          </a:prstGeom>
        </p:spPr>
      </p:pic>
      <p:pic>
        <p:nvPicPr>
          <p:cNvPr id="10" name="Image 4" descr="/Users/pauljeon/Downloads/assets/wheremon/public/content/leaders/fantin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3977640"/>
            <a:ext cx="475488" cy="713232"/>
          </a:xfrm>
          <a:prstGeom prst="rect">
            <a:avLst/>
          </a:prstGeom>
        </p:spPr>
      </p:pic>
      <p:pic>
        <p:nvPicPr>
          <p:cNvPr id="11" name="Image 5" descr="/Users/pauljeon/Downloads/assets/wheremon/public/content/leaders/byr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3977640"/>
            <a:ext cx="475488" cy="713232"/>
          </a:xfrm>
          <a:prstGeom prst="rect">
            <a:avLst/>
          </a:prstGeom>
        </p:spPr>
      </p:pic>
      <p:pic>
        <p:nvPicPr>
          <p:cNvPr id="12" name="Image 6" descr="/Users/pauljeon/Downloads/assets/wheremon/public/content/leaders/candic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960" y="3977640"/>
            <a:ext cx="475488" cy="713232"/>
          </a:xfrm>
          <a:prstGeom prst="rect">
            <a:avLst/>
          </a:prstGeom>
        </p:spPr>
      </p:pic>
      <p:pic>
        <p:nvPicPr>
          <p:cNvPr id="13" name="Image 7" descr="/Users/pauljeon/Downloads/assets/wheremon/public/content/leaders/volkn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977640"/>
            <a:ext cx="475488" cy="713232"/>
          </a:xfrm>
          <a:prstGeom prst="rect">
            <a:avLst/>
          </a:prstGeom>
        </p:spPr>
      </p:pic>
      <p:pic>
        <p:nvPicPr>
          <p:cNvPr id="14" name="Image 8" descr="/Users/pauljeon/Downloads/assets/wheremon/public/content/leaders/cynthi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240" y="3977640"/>
            <a:ext cx="475488" cy="713232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914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STREAK 1</a:t>
            </a:r>
            <a:endParaRPr lang="en-US" sz="900" dirty="0"/>
          </a:p>
        </p:txBody>
      </p:sp>
      <p:sp>
        <p:nvSpPr>
          <p:cNvPr id="16" name="Text 5"/>
          <p:cNvSpPr/>
          <p:nvPr/>
        </p:nvSpPr>
        <p:spPr>
          <a:xfrm>
            <a:off x="4617720" y="4800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SUMMIT</a:t>
            </a:r>
            <a:endParaRPr lang="en-US" sz="900" dirty="0"/>
          </a:p>
        </p:txBody>
      </p:sp>
      <p:sp>
        <p:nvSpPr>
          <p:cNvPr id="17" name="Text 6"/>
          <p:cNvSpPr/>
          <p:nvPr/>
        </p:nvSpPr>
        <p:spPr>
          <a:xfrm>
            <a:off x="685800" y="5532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GAUNTLET — COMPANIONS BY STREAK</a:t>
            </a:r>
            <a:endParaRPr lang="en-US" sz="1100" dirty="0"/>
          </a:p>
        </p:txBody>
      </p:sp>
      <p:sp>
        <p:nvSpPr>
          <p:cNvPr id="18" name="Shape 7"/>
          <p:cNvSpPr/>
          <p:nvPr/>
        </p:nvSpPr>
        <p:spPr>
          <a:xfrm>
            <a:off x="6355080" y="1371600"/>
            <a:ext cx="5355539" cy="3593592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pic>
        <p:nvPicPr>
          <p:cNvPr id="19" name="Image 9" descr="/Users/pauljeon/Downloads/assets/wheremon/slides/shots/practice-pick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8232" y="1444752"/>
            <a:ext cx="5209235" cy="3447288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6355080" y="51389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— EVERY REGION, ITS OWN RUN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8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WHAT IT REFUSES TO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9601200" cy="596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7130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values are visible in the interface.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67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7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MONETIZED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60120" y="263347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ads, no donations, no upsell. A fan project stays a fan project — the IP posture depends on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267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7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ACCOUNTS, NO BACKEND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92240" y="263347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is static files. Your streak lives in your browser's localStorage and nowhere else.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70332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959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7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DAYS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432511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date, same puzzle, same hint picks, worldwide. There is no randomness in the daily path.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70332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8575">
            <a:solidFill>
              <a:srgbClr val="17130C"/>
            </a:solidFill>
            <a:prstDash val="solid"/>
          </a:ln>
          <a:effectLst>
            <a:outerShdw sx="100000" sy="100000" kx="0" ky="0" algn="bl" rotWithShape="0" blurRad="101600" dist="38100" dir="5400000">
              <a:srgbClr val="17130C">
                <a:alpha val="9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959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7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QUIET ANALYTICS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92240" y="432511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C4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cookies, no tracking — anonymous page counts only, disclosed in the footer next to the attributions.</a:t>
            </a:r>
            <a:endParaRPr lang="en-US" sz="1250" dirty="0"/>
          </a:p>
        </p:txBody>
      </p:sp>
      <p:pic>
        <p:nvPicPr>
          <p:cNvPr id="16" name="Image 0" descr="/Users/pauljeon/Downloads/assets/wheremon/slides/shots/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06440"/>
            <a:ext cx="2295144" cy="4480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200400" y="5897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7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today's puzzle — pjeon18.github.io/pokemaps</a:t>
            </a:r>
            <a:pPr indent="0" marL="0">
              <a:buNone/>
            </a:pPr>
            <a:r>
              <a:rPr lang="en-US" sz="1250" dirty="0">
                <a:solidFill>
                  <a:srgbClr val="8A8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github.com/pjeon18/pokemaps   ·   Paul Jeon,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PokéMAPs — Design Process</dc:title>
  <dc:subject>PptxGenJS Presentation</dc:subject>
  <dc:creator>Paul Jeon</dc:creator>
  <cp:lastModifiedBy>Paul Jeon</cp:lastModifiedBy>
  <cp:revision>1</cp:revision>
  <dcterms:created xsi:type="dcterms:W3CDTF">2026-07-22T15:57:01Z</dcterms:created>
  <dcterms:modified xsi:type="dcterms:W3CDTF">2026-07-22T15:57:01Z</dcterms:modified>
</cp:coreProperties>
</file>